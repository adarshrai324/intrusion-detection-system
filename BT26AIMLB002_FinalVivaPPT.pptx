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2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5032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8802411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468A160-391F-4CE7-9E60-939F4BE69CBE}" type="datetimeFigureOut">
              <a:rPr lang="en-IN"/>
              <a:t>06-05-2026</a:t>
            </a:fld>
            <a:endParaRPr lang="en-IN"/>
          </a:p>
        </p:txBody>
      </p:sp>
      <p:sp>
        <p:nvSpPr>
          <p:cNvPr id="761459731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IN"/>
          </a:p>
        </p:txBody>
      </p:sp>
      <p:sp>
        <p:nvSpPr>
          <p:cNvPr id="9941632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11801077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5489662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F20B48B-7E58-43F6-9891-14218BF0E68B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657603" name="Google Shape;85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/>
          </a:p>
        </p:txBody>
      </p:sp>
      <p:sp>
        <p:nvSpPr>
          <p:cNvPr id="1053012125" name="Google Shape;86;p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29308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36029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130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054C41-38CB-7868-C21B-B66C24AE06CA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60147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2552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684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E41438-33B8-76C6-C8F7-604879AAF588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3036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32000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834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AA4729-3371-3753-E1EC-9F45A30F9E7D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8043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9847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925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5A76C-E03A-E560-BDD2-147662A2A898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2657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35819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012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8E50BB-C15F-0CF5-F1AF-7256161DFCD4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7635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91787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262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D28EB2-7EFD-F43D-9028-1CB89FB5BEF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8283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70240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095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1036BA-ED89-6962-E7EF-716F10F2872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20454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1378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248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26A44E-C820-6453-2C74-21D5C5689760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0958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14193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901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50951D-2216-C3D0-8745-9665B64CAB4F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0905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93177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52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B0145-4903-0094-6087-801DB09B45B4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4828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90281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447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3A5FB-A92D-06A0-BED0-4B2192EAAD98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30305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43051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915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18513C-2723-B890-0FE3-C34D8208C0E5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8918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52499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373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7D9B1F-B6AF-28DD-5796-07AFE6400B97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5139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486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78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5F0F32-5E66-89DA-8B40-002BEBA0B11A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8896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17022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241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45EC67-1126-4474-EB10-4EFC28C7ED85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22194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37607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2037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BEC26B-3A23-7476-07AE-2E70E1DA7D5C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722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2672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295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D28197-1C6D-980F-FAA0-1C572FED2DC5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2210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27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9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550971-0264-0CCB-D644-85600459D852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541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66641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599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A49276-A62F-768D-BF08-3B3D0BAF318A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9045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55607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431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A34FE7-50AA-FA23-51CB-86B02626EF21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40380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98764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553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BAF4BF-0659-9C52-AFC9-F8DDA3E9AE5A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5716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94158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286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4A3EDC-F307-1CC4-0C5F-7D584F08066D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50478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13289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740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9E2214-C5EC-C387-FFAB-BF1195D7E921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78990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673806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7955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ADAD8-C9CA-3469-5449-F8C20B520064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9871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4976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145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FF1642-6346-8740-63DD-5169938F3722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16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1397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760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E93367-2688-D79C-5725-F3864E718623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6701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3574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251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99C2C-BA37-7827-767E-756F766FDCB0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26C8-B4B9-9343-F4C5-71F705AA6BE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670197" name="Slide Image Placeholder 1">
            <a:extLst>
              <a:ext uri="{FF2B5EF4-FFF2-40B4-BE49-F238E27FC236}">
                <a16:creationId xmlns:a16="http://schemas.microsoft.com/office/drawing/2014/main" id="{86810633-8FE5-18A8-EB5A-CC6B8D69F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3574362" name="Notes Placeholder 2">
            <a:extLst>
              <a:ext uri="{FF2B5EF4-FFF2-40B4-BE49-F238E27FC236}">
                <a16:creationId xmlns:a16="http://schemas.microsoft.com/office/drawing/2014/main" id="{1DD4393A-F2FC-00B4-5208-47B6C6F4A1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251582" name="Slide Number Placeholder 3">
            <a:extLst>
              <a:ext uri="{FF2B5EF4-FFF2-40B4-BE49-F238E27FC236}">
                <a16:creationId xmlns:a16="http://schemas.microsoft.com/office/drawing/2014/main" id="{38B85DD2-CC6A-87FD-3420-6FCC61DCF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99C2C-BA37-7827-767E-756F766FDCB0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90281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63806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08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787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8DD02B-1E39-125A-9CEC-1D9D001EE29D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04382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03744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961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8A886-E7B4-392B-E22A-03A6029877F4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81306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12791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887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DBF483-EF9C-F51F-F4B6-3EB43C777B45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663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593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846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DF777-E512-D405-6EFB-CDD943D6DECC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55770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3475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7927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ABD5C-18BC-F101-CAD5-530911F0507E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41390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9317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743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A92C3B-995A-879A-B773-9FAADA304BCD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131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86532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4568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41690-9BCF-1069-2346-17DA7614499C}" type="slidenum">
              <a:rPr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23626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7725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35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8EF17-D207-A492-442E-2A2DDC0EFECF}" type="slidenum">
              <a:rPr/>
              <a:t>37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41954" name="Rectangle 6"/>
          <p:cNvSpPr/>
          <p:nvPr/>
        </p:nvSpPr>
        <p:spPr bwMode="auto"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54562868" name="Title 1"/>
          <p:cNvSpPr>
            <a:spLocks noGrp="1"/>
          </p:cNvSpPr>
          <p:nvPr>
            <p:ph type="ctr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57144248" name="Subtitle 2"/>
          <p:cNvSpPr>
            <a:spLocks noGrp="1"/>
          </p:cNvSpPr>
          <p:nvPr>
            <p:ph type="subTitle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1594178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F15CE08-B39F-42A6-B19B-374ED7F7FF68}" type="datetime1">
              <a:rPr lang="en-US"/>
              <a:t>5/6/2026</a:t>
            </a:fld>
            <a:endParaRPr lang="en-US"/>
          </a:p>
        </p:txBody>
      </p:sp>
      <p:sp>
        <p:nvSpPr>
          <p:cNvPr id="2450006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7273982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086071886" name="Straight Connector 7"/>
          <p:cNvCxnSpPr/>
          <p:nvPr/>
        </p:nvCxnSpPr>
        <p:spPr bwMode="auto"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8577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200799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712655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2AA47D-75D9-45D8-B56C-8FAFFA93EAD6}" type="datetime1">
              <a:rPr lang="en-US"/>
              <a:t>5/6/2026</a:t>
            </a:fld>
            <a:endParaRPr lang="en-US"/>
          </a:p>
        </p:txBody>
      </p:sp>
      <p:sp>
        <p:nvSpPr>
          <p:cNvPr id="20863824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5305874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650204" name="Rectangle 6"/>
          <p:cNvSpPr/>
          <p:nvPr/>
        </p:nvSpPr>
        <p:spPr bwMode="auto"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506797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000175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20367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2A0292D-00E9-4D6A-A425-77A20F46B5BE}" type="datetime1">
              <a:rPr lang="en-US"/>
              <a:t>5/6/2026</a:t>
            </a:fld>
            <a:endParaRPr lang="en-US"/>
          </a:p>
        </p:txBody>
      </p:sp>
      <p:sp>
        <p:nvSpPr>
          <p:cNvPr id="15800953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6524816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591333928" name="Straight Connector 7"/>
          <p:cNvCxnSpPr/>
          <p:nvPr/>
        </p:nvCxnSpPr>
        <p:spPr bwMode="auto"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089866" name="Title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81749978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024128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204547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9320" y="2286000"/>
            <a:ext cx="4754880" cy="4023360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6917488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C362B63-E1BD-4357-910C-5A0AA743F18E}" type="datetime1">
              <a:rPr lang="en-US"/>
              <a:t>5/6/2026</a:t>
            </a:fld>
            <a:endParaRPr lang="en-US"/>
          </a:p>
        </p:txBody>
      </p:sp>
      <p:sp>
        <p:nvSpPr>
          <p:cNvPr id="13442789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8526780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350800" name="Title 9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894092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13807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43248181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cap="none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>
              <a:lnSpc>
                <a:spcPct val="90000"/>
              </a:lnSpc>
              <a:spcBef>
                <a:spcPts val="180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39686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309949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74F25F-7FFF-45D5-AE2B-B5B403F77D89}" type="datetime1">
              <a:rPr lang="en-US"/>
              <a:t>5/6/2026</a:t>
            </a:fld>
            <a:endParaRPr lang="en-US"/>
          </a:p>
        </p:txBody>
      </p:sp>
      <p:sp>
        <p:nvSpPr>
          <p:cNvPr id="160710322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21311894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0525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0808337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98495B6-E2B2-459F-92F3-111E9BF13997}" type="datetime1">
              <a:rPr lang="en-US"/>
              <a:t>5/6/2026</a:t>
            </a:fld>
            <a:endParaRPr lang="en-US"/>
          </a:p>
        </p:txBody>
      </p:sp>
      <p:sp>
        <p:nvSpPr>
          <p:cNvPr id="1500232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84897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99324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17F29CA-6039-4392-BA87-7305B1A5B1C2}" type="datetime1">
              <a:rPr lang="en-US"/>
              <a:t>5/6/2026</a:t>
            </a:fld>
            <a:endParaRPr lang="en-US"/>
          </a:p>
        </p:txBody>
      </p:sp>
      <p:sp>
        <p:nvSpPr>
          <p:cNvPr id="125245934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5042649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691693" name="Title 7"/>
          <p:cNvSpPr>
            <a:spLocks noGrp="1"/>
          </p:cNvSpPr>
          <p:nvPr>
            <p:ph type="title"/>
          </p:nvPr>
        </p:nvSpPr>
        <p:spPr bwMode="auto"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238611774" name="Content Placeholder 2"/>
          <p:cNvSpPr>
            <a:spLocks noGrp="1"/>
          </p:cNvSpPr>
          <p:nvPr>
            <p:ph idx="1"/>
          </p:nvPr>
        </p:nvSpPr>
        <p:spPr bwMode="auto"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9198586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92997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9D08B5-C3E5-428F-B50F-1E2C5930FCEA}" type="datetime1">
              <a:rPr lang="en-US"/>
              <a:t>5/6/2026</a:t>
            </a:fld>
            <a:endParaRPr lang="en-US"/>
          </a:p>
        </p:txBody>
      </p:sp>
      <p:sp>
        <p:nvSpPr>
          <p:cNvPr id="7132708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1144511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27471" name="Title 1"/>
          <p:cNvSpPr>
            <a:spLocks noGrp="1"/>
          </p:cNvSpPr>
          <p:nvPr>
            <p:ph type="title"/>
          </p:nvPr>
        </p:nvSpPr>
        <p:spPr bwMode="auto"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53818827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0" y="-1"/>
            <a:ext cx="12188952" cy="45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5070878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84060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5151A7B-F0CF-443E-AA4E-FE137E34218D}" type="datetime1">
              <a:rPr lang="en-US"/>
              <a:t>5/6/2026</a:t>
            </a:fld>
            <a:endParaRPr lang="en-US"/>
          </a:p>
        </p:txBody>
      </p:sp>
      <p:sp>
        <p:nvSpPr>
          <p:cNvPr id="18724482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8897708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492138681" name="Straight Connector 8"/>
          <p:cNvCxnSpPr/>
          <p:nvPr/>
        </p:nvCxnSpPr>
        <p:spPr bwMode="auto"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8859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879492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604498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A081C70-A99E-45CA-86FC-9C92E80B7CE2}" type="datetime1">
              <a:rPr lang="en-US"/>
              <a:t>5/6/2026</a:t>
            </a:fld>
            <a:endParaRPr lang="en-US"/>
          </a:p>
        </p:txBody>
      </p:sp>
      <p:sp>
        <p:nvSpPr>
          <p:cNvPr id="63898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5860217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69744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4721663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990600" y="762000"/>
            <a:ext cx="7581899" cy="541020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404133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21C2EAC-23C9-4E8C-8D16-5C4A6392B293}" type="datetime1">
              <a:rPr lang="en-US"/>
              <a:t>5/6/2026</a:t>
            </a:fld>
            <a:endParaRPr lang="en-US"/>
          </a:p>
        </p:txBody>
      </p:sp>
      <p:sp>
        <p:nvSpPr>
          <p:cNvPr id="360803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9477289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805908591" name="Straight Connector 6"/>
          <p:cNvCxnSpPr/>
          <p:nvPr/>
        </p:nvCxnSpPr>
        <p:spPr bwMode="auto"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540222" name="Title Placeholder 1"/>
          <p:cNvSpPr>
            <a:spLocks noGrp="1"/>
          </p:cNvSpPr>
          <p:nvPr>
            <p:ph type="title"/>
          </p:nvPr>
        </p:nvSpPr>
        <p:spPr bwMode="auto"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250137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30817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65311D4E-75BE-473F-BA4F-574E42E38629}" type="datetime1">
              <a:rPr lang="en-US"/>
              <a:t>5/6/2026</a:t>
            </a:fld>
            <a:endParaRPr lang="en-US"/>
          </a:p>
        </p:txBody>
      </p:sp>
      <p:sp>
        <p:nvSpPr>
          <p:cNvPr id="4219159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Major Project Review-III - 25th April 2026</a:t>
            </a:r>
            <a:endParaRPr/>
          </a:p>
        </p:txBody>
      </p:sp>
      <p:sp>
        <p:nvSpPr>
          <p:cNvPr id="1424117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  <p:cxnSp>
        <p:nvCxnSpPr>
          <p:cNvPr id="1248171842" name="Straight Connector 6"/>
          <p:cNvCxnSpPr/>
          <p:nvPr/>
        </p:nvCxnSpPr>
        <p:spPr bwMode="auto"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>
        <a:lnSpc>
          <a:spcPct val="80000"/>
        </a:lnSpc>
        <a:spcBef>
          <a:spcPts val="0"/>
        </a:spcBef>
        <a:buNone/>
        <a:defRPr sz="5000" cap="all" spc="10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/>
        <a:buChar char=" 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1216151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1362455" indent="-137160" algn="l" defTabSz="914400" rtl="0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/>
        <a:buChar char="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522253" name="Google Shape;88;p1"/>
          <p:cNvSpPr txBox="1">
            <a:spLocks noGrp="1"/>
          </p:cNvSpPr>
          <p:nvPr>
            <p:ph type="ctrTitle"/>
          </p:nvPr>
        </p:nvSpPr>
        <p:spPr bwMode="auto">
          <a:xfrm>
            <a:off x="2209800" y="27181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400"/>
              <a:defRPr/>
            </a:pPr>
            <a:r>
              <a:rPr sz="2800">
                <a:latin typeface="Times New Roman"/>
              </a:rPr>
              <a:t>AI</a:t>
            </a:r>
            <a:r>
              <a:rPr sz="2800" spc="-69">
                <a:latin typeface="Times New Roman"/>
              </a:rPr>
              <a:t> </a:t>
            </a:r>
            <a:r>
              <a:rPr sz="2800">
                <a:latin typeface="Times New Roman"/>
              </a:rPr>
              <a:t>DRIVEN</a:t>
            </a:r>
            <a:r>
              <a:rPr sz="2800" spc="-74">
                <a:latin typeface="Times New Roman"/>
              </a:rPr>
              <a:t> </a:t>
            </a:r>
            <a:r>
              <a:rPr sz="2800">
                <a:latin typeface="Times New Roman"/>
              </a:rPr>
              <a:t>INTRUSION</a:t>
            </a:r>
            <a:r>
              <a:rPr sz="2800" spc="-69">
                <a:latin typeface="Times New Roman"/>
              </a:rPr>
              <a:t> </a:t>
            </a:r>
            <a:r>
              <a:rPr sz="2800">
                <a:latin typeface="Times New Roman"/>
              </a:rPr>
              <a:t>DETECTION SYSTEMS USING DEEP LEARNING</a:t>
            </a:r>
            <a:endParaRPr sz="400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49273677" name="Google Shape;89;p1"/>
          <p:cNvSpPr txBox="1">
            <a:spLocks noGrp="1"/>
          </p:cNvSpPr>
          <p:nvPr>
            <p:ph type="subTitle" idx="1"/>
          </p:nvPr>
        </p:nvSpPr>
        <p:spPr bwMode="auto">
          <a:xfrm>
            <a:off x="6672095" y="4221424"/>
            <a:ext cx="4605300" cy="263657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/>
          </a:bodyPr>
          <a:lstStyle/>
          <a:p>
            <a:pPr>
              <a:spcAft>
                <a:spcPts val="0"/>
              </a:spcAft>
              <a:buClr>
                <a:schemeClr val="dk1"/>
              </a:buCl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Batch ID:BT26AIMLB002</a:t>
            </a:r>
            <a:endParaRPr/>
          </a:p>
          <a:p>
            <a:pPr>
              <a:spcAft>
                <a:spcPts val="0"/>
              </a:spcAft>
              <a:buClr>
                <a:srgbClr val="888888"/>
              </a:buCl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Student 1 Reg. No:RA2211026030086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Student 1 Name:Adarsh Rai</a:t>
            </a:r>
            <a:endParaRPr/>
          </a:p>
          <a:p>
            <a:pPr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Student 2 Reg. No:RA2211026030115</a:t>
            </a:r>
            <a:endParaRPr/>
          </a:p>
          <a:p>
            <a:pPr>
              <a:spcBef>
                <a:spcPts val="592"/>
              </a:spcBef>
              <a:spcAft>
                <a:spcPts val="0"/>
              </a:spcAft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Student 2 Name:Anmol Sarin</a:t>
            </a:r>
            <a:endParaRPr/>
          </a:p>
          <a:p>
            <a:pPr>
              <a:spcAft>
                <a:spcPts val="0"/>
              </a:spcAft>
              <a:buClr>
                <a:srgbClr val="888888"/>
              </a:buCl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Student 3 Reg. No:RA2211026030118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>
              <a:spcBef>
                <a:spcPts val="592"/>
              </a:spcBef>
              <a:spcAft>
                <a:spcPts val="0"/>
              </a:spcAft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Student 3 Name:Aayushi Mohan</a:t>
            </a:r>
            <a:endParaRPr/>
          </a:p>
          <a:p>
            <a:pPr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defRPr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6275387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13095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847083" name="Google Shape;91;p1"/>
          <p:cNvSpPr/>
          <p:nvPr/>
        </p:nvSpPr>
        <p:spPr bwMode="auto">
          <a:xfrm>
            <a:off x="708949" y="19887"/>
            <a:ext cx="10774101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defRPr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SRM INSTITUTE OF SCIENCE AND TECHNOLOGY </a:t>
            </a:r>
            <a:endParaRPr sz="240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buClr>
                <a:srgbClr val="000000"/>
              </a:buClr>
              <a:buSzPts val="1800"/>
              <a:defRPr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/>
          </a:p>
          <a:p>
            <a:pPr algn="ctr">
              <a:buClr>
                <a:srgbClr val="000000"/>
              </a:buClr>
              <a:buSzPts val="1800"/>
              <a:defRPr/>
            </a:pPr>
            <a:r>
              <a:rPr lang="en-I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REVIEW-III PRESENTATION</a:t>
            </a:r>
            <a:endParaRPr/>
          </a:p>
          <a:p>
            <a:pPr algn="ctr">
              <a:buClr>
                <a:srgbClr val="000000"/>
              </a:buClr>
              <a:buSzPts val="1800"/>
              <a:defRPr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lvl="0" algn="ctr">
              <a:buSzPts val="1800"/>
              <a:defRPr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21CSP401L MAJOR PROJECT / 21CSP402L - MAJOR PROJECT with 21CSP403L INTERNSHIP#</a:t>
            </a:r>
            <a:endParaRPr/>
          </a:p>
          <a:p>
            <a:pPr lvl="0" algn="ctr">
              <a:buSzPts val="1800"/>
              <a:defRPr/>
            </a:pPr>
            <a:endParaRPr lang="en-US" b="1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>
            <a:pPr lvl="0" algn="ctr">
              <a:buSzPts val="1800"/>
              <a:defRPr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Programme: B.Tech / M.Tech</a:t>
            </a:r>
          </a:p>
          <a:p>
            <a:pPr lvl="0" algn="ctr">
              <a:buSzPts val="1800"/>
              <a:defRPr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Academic Year: </a:t>
            </a:r>
            <a:endParaRPr/>
          </a:p>
        </p:txBody>
      </p:sp>
      <p:sp>
        <p:nvSpPr>
          <p:cNvPr id="1257864315" name="Google Shape;92;p1"/>
          <p:cNvSpPr txBox="1"/>
          <p:nvPr/>
        </p:nvSpPr>
        <p:spPr bwMode="auto">
          <a:xfrm>
            <a:off x="69449" y="4661837"/>
            <a:ext cx="34719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 fontScale="57500" lnSpcReduction="20000"/>
          </a:bodyPr>
          <a:lstStyle/>
          <a:p>
            <a:pPr>
              <a:lnSpc>
                <a:spcPct val="170000"/>
              </a:lnSpc>
              <a:spcBef>
                <a:spcPts val="592"/>
              </a:spcBef>
              <a:buClr>
                <a:srgbClr val="888888"/>
              </a:buClr>
              <a:buSzPct val="100000"/>
              <a:defRPr/>
            </a:pPr>
            <a:r>
              <a:rPr lang="en-US" sz="3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Guide name:</a:t>
            </a:r>
            <a:r>
              <a:rPr sz="3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Dr. Neha Ahlawat</a:t>
            </a:r>
            <a:endParaRPr b="1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spcBef>
                <a:spcPts val="592"/>
              </a:spcBef>
              <a:buClr>
                <a:srgbClr val="888888"/>
              </a:buClr>
              <a:buSzPct val="100000"/>
              <a:defRPr/>
            </a:pPr>
            <a:r>
              <a:rPr lang="en-US" sz="3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Designation:</a:t>
            </a:r>
            <a:r>
              <a:rPr lang="en-US" sz="3200" b="0" i="0" u="none" strike="noStrike" cap="none" spc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Associate Professor</a:t>
            </a:r>
            <a:br>
              <a:rPr lang="en-US" sz="3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3200" b="1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Department:CSE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1076302540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1</a:t>
            </a:fld>
            <a:endParaRPr lang="en-US"/>
          </a:p>
        </p:txBody>
      </p:sp>
      <p:sp>
        <p:nvSpPr>
          <p:cNvPr id="525979510" name="TextBox 4"/>
          <p:cNvSpPr txBox="1"/>
          <p:nvPr/>
        </p:nvSpPr>
        <p:spPr bwMode="auto">
          <a:xfrm>
            <a:off x="2403093" y="646878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>
                <a:solidFill>
                  <a:srgbClr val="C00000"/>
                </a:solidFill>
              </a:rPr>
              <a:t>Major Project Review-III - 25th April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606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Project Overview</a:t>
            </a:r>
            <a:endParaRPr/>
          </a:p>
        </p:txBody>
      </p:sp>
      <p:sp>
        <p:nvSpPr>
          <p:cNvPr id="17852635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With the rapid growth of internet usage, cyber attacks are increasing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Traditional security systems fail to detect modern attacks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This project focuses on detecting malicious network activity using AI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Motivation: Improve cybersecurity using Machine Learning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Application Domain: Network Security, Cybersecurity, IDS Systems</a:t>
            </a:r>
            <a:endParaRPr/>
          </a:p>
        </p:txBody>
      </p:sp>
      <p:sp>
        <p:nvSpPr>
          <p:cNvPr id="5595167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</a:t>
            </a:fld>
            <a:endParaRPr lang="en-US"/>
          </a:p>
        </p:txBody>
      </p:sp>
      <p:pic>
        <p:nvPicPr>
          <p:cNvPr id="1282737720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483112" name="Title 1"/>
          <p:cNvSpPr>
            <a:spLocks noGrp="1"/>
          </p:cNvSpPr>
          <p:nvPr>
            <p:ph type="title"/>
          </p:nvPr>
        </p:nvSpPr>
        <p:spPr bwMode="auto">
          <a:xfrm>
            <a:off x="1024318" y="585216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IN">
                <a:solidFill>
                  <a:srgbClr val="C00000"/>
                </a:solidFill>
              </a:rPr>
              <a:t>Problem </a:t>
            </a:r>
            <a:r>
              <a:rPr>
                <a:solidFill>
                  <a:srgbClr val="C00000"/>
                </a:solidFill>
              </a:rPr>
              <a:t>Statement</a:t>
            </a:r>
            <a:endParaRPr/>
          </a:p>
        </p:txBody>
      </p:sp>
      <p:sp>
        <p:nvSpPr>
          <p:cNvPr id="1651926977" name="Content Placeholder 2"/>
          <p:cNvSpPr>
            <a:spLocks noGrp="1"/>
          </p:cNvSpPr>
          <p:nvPr>
            <p:ph idx="1"/>
          </p:nvPr>
        </p:nvSpPr>
        <p:spPr bwMode="auto">
          <a:xfrm>
            <a:off x="1024317" y="1820955"/>
            <a:ext cx="9215616" cy="4082190"/>
          </a:xfrm>
        </p:spPr>
        <p:txBody>
          <a:bodyPr/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Networks are vulnerable to cyber attacks (DoS, Probe, R2L, U2R)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Traditional IDS systems are rule-based and less efficient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Difficulty in detecting unknown attacks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Need for intelligent and automated detection system</a:t>
            </a:r>
            <a:endParaRPr/>
          </a:p>
        </p:txBody>
      </p:sp>
      <p:sp>
        <p:nvSpPr>
          <p:cNvPr id="14967364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</a:t>
            </a:fld>
            <a:endParaRPr lang="en-US"/>
          </a:p>
        </p:txBody>
      </p:sp>
      <p:pic>
        <p:nvPicPr>
          <p:cNvPr id="970203616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8956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Project Objectives</a:t>
            </a:r>
            <a:endParaRPr/>
          </a:p>
        </p:txBody>
      </p:sp>
      <p:sp>
        <p:nvSpPr>
          <p:cNvPr id="20219066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Develop an AI-based intrusion detection system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Classify network traffic as normal or attack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Improve detection accuracy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Reduce false positives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Provide real-time prediction interface</a:t>
            </a:r>
            <a:endParaRPr/>
          </a:p>
        </p:txBody>
      </p:sp>
      <p:sp>
        <p:nvSpPr>
          <p:cNvPr id="2874436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4</a:t>
            </a:fld>
            <a:endParaRPr lang="en-US"/>
          </a:p>
        </p:txBody>
      </p:sp>
      <p:pic>
        <p:nvPicPr>
          <p:cNvPr id="2091051719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9988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Literature Review</a:t>
            </a:r>
            <a:endParaRPr/>
          </a:p>
        </p:txBody>
      </p:sp>
      <p:sp>
        <p:nvSpPr>
          <p:cNvPr id="155670720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endParaRPr/>
          </a:p>
          <a:p>
            <a:pPr marL="0" indent="0">
              <a:buNone/>
              <a:defRPr/>
            </a:pPr>
            <a:endParaRPr/>
          </a:p>
        </p:txBody>
      </p:sp>
      <p:sp>
        <p:nvSpPr>
          <p:cNvPr id="2696330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5</a:t>
            </a:fld>
            <a:endParaRPr lang="en-US"/>
          </a:p>
        </p:txBody>
      </p:sp>
      <p:pic>
        <p:nvPicPr>
          <p:cNvPr id="772175301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9378603" name="Table 1569378602"/>
          <p:cNvGraphicFramePr>
            <a:graphicFrameLocks/>
          </p:cNvGraphicFramePr>
          <p:nvPr/>
        </p:nvGraphicFramePr>
        <p:xfrm>
          <a:off x="1136029" y="1990972"/>
          <a:ext cx="8936688" cy="3903906"/>
        </p:xfrm>
        <a:graphic>
          <a:graphicData uri="http://schemas.openxmlformats.org/drawingml/2006/table">
            <a:tbl>
              <a:tblPr firstRow="1" firstCol="1" bandRow="1"/>
              <a:tblGrid>
                <a:gridCol w="1344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8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0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Author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Method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Dataset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Accuracy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Limitation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Tavallaee et al. (2009)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ML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KDD Cup 99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Good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Outdated dataset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Lee et al. (1999)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Data Mining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KDD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Moderate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High false positives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Denning (1987)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Rule-based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Custom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Low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Cannot detect new attacks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Moustafa &amp; Slay (2015)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ML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UNSW-NB15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High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Complex preprocessing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62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Creech &amp; Hu (2014)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Pattern-based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Custom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High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Slow execution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55519005" name="TextBox 1055519004"/>
          <p:cNvSpPr txBox="1"/>
          <p:nvPr/>
        </p:nvSpPr>
        <p:spPr bwMode="auto">
          <a:xfrm>
            <a:off x="771837" y="1624852"/>
            <a:ext cx="890867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3581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LITERATURE REVIEW</a:t>
            </a:r>
          </a:p>
        </p:txBody>
      </p:sp>
      <p:sp>
        <p:nvSpPr>
          <p:cNvPr id="7418790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03ABA6D-1D64-0B37-80BE-BD45359755EB}" type="slidenum">
              <a:rPr lang="en-US"/>
              <a:t>6</a:t>
            </a:fld>
            <a:endParaRPr lang="en-US"/>
          </a:p>
        </p:txBody>
      </p:sp>
      <p:graphicFrame>
        <p:nvGraphicFramePr>
          <p:cNvPr id="2060901676" name="Table 2060901675"/>
          <p:cNvGraphicFramePr>
            <a:graphicFrameLocks/>
          </p:cNvGraphicFramePr>
          <p:nvPr/>
        </p:nvGraphicFramePr>
        <p:xfrm>
          <a:off x="1024127" y="2285999"/>
          <a:ext cx="9048584" cy="4023362"/>
        </p:xfrm>
        <a:graphic>
          <a:graphicData uri="http://schemas.openxmlformats.org/drawingml/2006/table">
            <a:tbl>
              <a:tblPr firstRow="1" firstCol="1" bandRow="1"/>
              <a:tblGrid>
                <a:gridCol w="1361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1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2147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Author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Method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Dataset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Accuracy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Limitation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2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Kim et al. (2016)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Deep Learning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NSL-KDD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/>
                        <a:t>High</a:t>
                      </a: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Requires high computation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2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Yin et al. (2017)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/>
                        <a:t>RNN</a:t>
                      </a: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NSL-KDD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/>
                        <a:t>Very high</a:t>
                      </a:r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Training time high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2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Shone et al. (2018)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Deep Autoencoder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NSL-KDD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High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Resource intensive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2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Alom et al. (2019)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Deep Learning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KDD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Very High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Overfitting issue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243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Javaid et al. (2016)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Neural Network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NSL-KDD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High</a:t>
                      </a:r>
                      <a:endParaRPr sz="1600"/>
                    </a:p>
                  </a:txBody>
                  <a:tcPr marL="9524" marR="9524" marT="9524" marB="9524"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Limited real-time usage</a:t>
                      </a:r>
                      <a:endParaRPr sz="1600"/>
                    </a:p>
                  </a:txBody>
                  <a:tcPr marL="9524" marR="9524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109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Existing System</a:t>
            </a:r>
            <a:endParaRPr/>
          </a:p>
        </p:txBody>
      </p:sp>
      <p:sp>
        <p:nvSpPr>
          <p:cNvPr id="14944131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lnSpcReduction="13000"/>
          </a:bodyPr>
          <a:lstStyle/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Description of Existing Systems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Traditional Intrusion Detection Systems (IDS) are mainly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signature-based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These systems detect attacks by comparing network traffic with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predefined rules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Common systems include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firewalls, antivirus software, and rule-based IDS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Mostly used in enterprise and network security environments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Technologies Used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Rule-based Detection Systems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Signature Matching Techniques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Firewall Systems</a:t>
            </a:r>
            <a:endParaRPr sz="2200"/>
          </a:p>
          <a:p>
            <a:pPr marL="0" indent="0">
              <a:buNone/>
              <a:defRPr/>
            </a:pPr>
            <a:endParaRPr/>
          </a:p>
        </p:txBody>
      </p:sp>
      <p:sp>
        <p:nvSpPr>
          <p:cNvPr id="1602840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7</a:t>
            </a:fld>
            <a:endParaRPr lang="en-US"/>
          </a:p>
        </p:txBody>
      </p:sp>
      <p:pic>
        <p:nvPicPr>
          <p:cNvPr id="1907909645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1828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Existing System</a:t>
            </a:r>
            <a:endParaRPr/>
          </a:p>
        </p:txBody>
      </p:sp>
      <p:sp>
        <p:nvSpPr>
          <p:cNvPr id="14267752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Limitations of Existing Systems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❌ Cannot detect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unknown or zero-day attacks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❌ High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false positive rate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❌ Requires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manual rule updates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❌ Limited adaptability to new threats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❌ Low accuracy in complex network environments</a:t>
            </a:r>
            <a:endParaRPr/>
          </a:p>
        </p:txBody>
      </p:sp>
      <p:sp>
        <p:nvSpPr>
          <p:cNvPr id="241167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96B5D9C-BEA7-4F77-3E93-F7CE26A57EF8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3769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Proposed System</a:t>
            </a:r>
            <a:endParaRPr/>
          </a:p>
        </p:txBody>
      </p:sp>
      <p:sp>
        <p:nvSpPr>
          <p:cNvPr id="935436461" name="Content Placeholder 2"/>
          <p:cNvSpPr>
            <a:spLocks noGrp="1"/>
          </p:cNvSpPr>
          <p:nvPr>
            <p:ph idx="1"/>
          </p:nvPr>
        </p:nvSpPr>
        <p:spPr bwMode="auto">
          <a:xfrm>
            <a:off x="1024128" y="2286000"/>
            <a:ext cx="9720070" cy="4381499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80000" lnSpcReduction="14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Overview of Proposed System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Proposed system is an </a:t>
            </a: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AI-based Intrusion Detection System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It uses </a:t>
            </a: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Machine Learning / Deep Learning models</a:t>
            </a: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to analyze network traffic 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The system classifies data into </a:t>
            </a: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 or Attack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Designed to overcome limitations of traditional IDS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Provides </a:t>
            </a: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real-time prediction using Streamlit interface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Key Features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Intelligent detection using </a:t>
            </a: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trained ML model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Ability to detect </a:t>
            </a: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unknown (zero-day) attacks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Real-time prediction system</a:t>
            </a:r>
            <a:endParaRPr sz="24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Automated analysis of network traffic</a:t>
            </a:r>
            <a:endParaRPr/>
          </a:p>
        </p:txBody>
      </p:sp>
      <p:sp>
        <p:nvSpPr>
          <p:cNvPr id="151222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9</a:t>
            </a:fld>
            <a:endParaRPr lang="en-US"/>
          </a:p>
        </p:txBody>
      </p:sp>
      <p:pic>
        <p:nvPicPr>
          <p:cNvPr id="924084176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05768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9357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Proposed System</a:t>
            </a:r>
            <a:endParaRPr/>
          </a:p>
        </p:txBody>
      </p:sp>
      <p:sp>
        <p:nvSpPr>
          <p:cNvPr id="1913628660" name="Content Placeholder 2"/>
          <p:cNvSpPr>
            <a:spLocks noGrp="1"/>
          </p:cNvSpPr>
          <p:nvPr>
            <p:ph idx="1"/>
          </p:nvPr>
        </p:nvSpPr>
        <p:spPr bwMode="auto">
          <a:xfrm>
            <a:off x="800010" y="2084832"/>
            <a:ext cx="9720070" cy="4023360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Advantages over Existing System</a:t>
            </a:r>
            <a:endParaRPr sz="24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✔ Higher accuracy</a:t>
            </a:r>
            <a:endParaRPr sz="24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✔ Reduced false positives</a:t>
            </a:r>
            <a:endParaRPr sz="24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✔ Detects both known &amp; unknown attacks</a:t>
            </a:r>
            <a:endParaRPr sz="24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✔ No need for manual rule updates</a:t>
            </a:r>
            <a:endParaRPr sz="24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✔ Scalable and efficient</a:t>
            </a:r>
            <a:endParaRPr/>
          </a:p>
        </p:txBody>
      </p:sp>
      <p:sp>
        <p:nvSpPr>
          <p:cNvPr id="1067341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B54098-D0B5-B2CB-2BD9-7BC22EE8C5C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7017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System Architecture</a:t>
            </a:r>
            <a:endParaRPr/>
          </a:p>
        </p:txBody>
      </p:sp>
      <p:sp>
        <p:nvSpPr>
          <p:cNvPr id="127816371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Architecture Flow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Input Data (Network Traffic / Dataset)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Preprocessing (Cleaning, Encoding, Scaling)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Feature Selection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Training (ML / DL Model)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Prediction Module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Output (Normal / Attack)</a:t>
            </a:r>
            <a:endParaRPr/>
          </a:p>
        </p:txBody>
      </p:sp>
      <p:sp>
        <p:nvSpPr>
          <p:cNvPr id="7246761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11</a:t>
            </a:fld>
            <a:endParaRPr lang="en-US"/>
          </a:p>
        </p:txBody>
      </p:sp>
      <p:pic>
        <p:nvPicPr>
          <p:cNvPr id="902122422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896354" y="46364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9530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System Architecture</a:t>
            </a:r>
            <a:endParaRPr/>
          </a:p>
        </p:txBody>
      </p:sp>
      <p:sp>
        <p:nvSpPr>
          <p:cNvPr id="1773100557" name="Content Placeholder 2"/>
          <p:cNvSpPr>
            <a:spLocks noGrp="1"/>
          </p:cNvSpPr>
          <p:nvPr>
            <p:ph idx="1"/>
          </p:nvPr>
        </p:nvSpPr>
        <p:spPr bwMode="auto">
          <a:xfrm>
            <a:off x="1024127" y="2094358"/>
            <a:ext cx="9720070" cy="4446381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85000" lnSpcReduction="13000"/>
          </a:bodyPr>
          <a:lstStyle/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Explanation of System Components</a:t>
            </a:r>
            <a:endParaRPr sz="2400"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Input Module:</a:t>
            </a:r>
            <a:b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Takes network traffic data as input </a:t>
            </a:r>
            <a:endParaRPr sz="2400"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Preprocessing Module:</a:t>
            </a:r>
            <a:b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Cleans and converts data into usable format </a:t>
            </a:r>
            <a:endParaRPr sz="2400"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Feature Selection:</a:t>
            </a:r>
            <a:b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Selects important features for better performance </a:t>
            </a:r>
            <a:endParaRPr sz="2400"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Module:</a:t>
            </a:r>
            <a:b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Trains ML/DL model to learn patterns </a:t>
            </a:r>
            <a:endParaRPr sz="2400"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Prediction Module:</a:t>
            </a:r>
            <a:b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Classifies data as Normal or Attack </a:t>
            </a:r>
            <a:endParaRPr sz="2400"/>
          </a:p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Output Module:</a:t>
            </a:r>
            <a:br>
              <a:rPr sz="24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24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Displays final result to user </a:t>
            </a:r>
            <a:endParaRPr/>
          </a:p>
        </p:txBody>
      </p:sp>
      <p:sp>
        <p:nvSpPr>
          <p:cNvPr id="18452936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D5297-6B7B-69FF-1314-F79C8092C635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638116" name="Title 1"/>
          <p:cNvSpPr>
            <a:spLocks noGrp="1"/>
          </p:cNvSpPr>
          <p:nvPr>
            <p:ph type="title"/>
          </p:nvPr>
        </p:nvSpPr>
        <p:spPr bwMode="auto">
          <a:xfrm>
            <a:off x="1024127" y="294154"/>
            <a:ext cx="9720072" cy="1790677"/>
          </a:xfrm>
        </p:spPr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Methodology</a:t>
            </a:r>
            <a:endParaRPr/>
          </a:p>
        </p:txBody>
      </p:sp>
      <p:sp>
        <p:nvSpPr>
          <p:cNvPr id="8798428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13</a:t>
            </a:fld>
            <a:endParaRPr lang="en-US"/>
          </a:p>
        </p:txBody>
      </p:sp>
      <p:pic>
        <p:nvPicPr>
          <p:cNvPr id="1791964270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29911616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24128" y="1595700"/>
            <a:ext cx="8898831" cy="52866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Step-by-Step Workflow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Collection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NSL-KDD dataset is used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Preprocessing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cleaning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Encoding categorical values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Normalization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Feature Selection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Selecting important features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Training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Train ML/DL model on dataset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Evaluation</a:t>
            </a:r>
            <a:endParaRPr sz="16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Check accuracy, precision, recall</a:t>
            </a:r>
            <a:endParaRPr sz="1600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Prediction</a:t>
            </a:r>
            <a:endParaRPr sz="1600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Classify input as Normal or Attack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3881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Tools &amp; Technologies</a:t>
            </a:r>
            <a:endParaRPr/>
          </a:p>
        </p:txBody>
      </p:sp>
      <p:sp>
        <p:nvSpPr>
          <p:cNvPr id="114267432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95000" lnSpcReduction="11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Programming Language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Python (used for model development and data processing)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Libraries &amp; Frameworks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Pandas → Data handling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NumPy → Numerical operations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Scikit-learn → Machine learning models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TensorFlow / Keras → Deep learning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Development Environment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Jupyter Notebook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VS Code</a:t>
            </a:r>
            <a:endParaRPr/>
          </a:p>
        </p:txBody>
      </p:sp>
      <p:sp>
        <p:nvSpPr>
          <p:cNvPr id="9759355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14</a:t>
            </a:fld>
            <a:endParaRPr lang="en-US"/>
          </a:p>
        </p:txBody>
      </p:sp>
      <p:pic>
        <p:nvPicPr>
          <p:cNvPr id="1593648749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7439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Tools &amp; Technologies</a:t>
            </a:r>
            <a:endParaRPr/>
          </a:p>
        </p:txBody>
      </p:sp>
      <p:sp>
        <p:nvSpPr>
          <p:cNvPr id="14150519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Visualization Tools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Matplotlib → Graphs &amp; plots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Seaborn → Data visualization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Deployment Tool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Streamlit → Web-based user interface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Dataset Source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NSL-KDD Dataset (for training &amp; testing)</a:t>
            </a:r>
            <a:endParaRPr/>
          </a:p>
        </p:txBody>
      </p:sp>
      <p:sp>
        <p:nvSpPr>
          <p:cNvPr id="5364740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24D41C7-1A09-72E1-E540-610AC08CB74A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958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Modules Implemented</a:t>
            </a:r>
            <a:endParaRPr/>
          </a:p>
        </p:txBody>
      </p:sp>
      <p:sp>
        <p:nvSpPr>
          <p:cNvPr id="104729948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1. Data Input Module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Loads NSL-KDD dataset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Provides network traffic data to system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2. Data Processing Module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cleaning and preprocessing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Encoding categorical features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Normalization of data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3. Model Training Module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Train machine learning/deep learning model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Learns patterns of normal and attack traffic</a:t>
            </a:r>
            <a:endParaRPr/>
          </a:p>
        </p:txBody>
      </p:sp>
      <p:sp>
        <p:nvSpPr>
          <p:cNvPr id="3301585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16</a:t>
            </a:fld>
            <a:endParaRPr lang="en-US"/>
          </a:p>
        </p:txBody>
      </p:sp>
      <p:pic>
        <p:nvPicPr>
          <p:cNvPr id="1199700207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28917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7524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Modules Implemented</a:t>
            </a:r>
            <a:endParaRPr/>
          </a:p>
        </p:txBody>
      </p:sp>
      <p:sp>
        <p:nvSpPr>
          <p:cNvPr id="2271265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4. Prediction Module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Uses trained model to classify data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Predicts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 or Attack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5. User Interface Module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Built using Streamlit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Allows user to input data and get prediction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6. Output Module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Displays final result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Shows whether traffic is safe or malicious</a:t>
            </a:r>
            <a:endParaRPr/>
          </a:p>
        </p:txBody>
      </p:sp>
      <p:sp>
        <p:nvSpPr>
          <p:cNvPr id="1050121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C748622-23B6-AFB9-E88C-F13B82382E13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599921" name="Title 1"/>
          <p:cNvSpPr>
            <a:spLocks noGrp="1"/>
          </p:cNvSpPr>
          <p:nvPr>
            <p:ph type="title"/>
          </p:nvPr>
        </p:nvSpPr>
        <p:spPr bwMode="auto">
          <a:xfrm>
            <a:off x="1024127" y="252132"/>
            <a:ext cx="9720072" cy="1832699"/>
          </a:xfrm>
        </p:spPr>
        <p:txBody>
          <a:bodyPr/>
          <a:lstStyle/>
          <a:p>
            <a:pPr>
              <a:defRPr/>
            </a:pPr>
            <a:r>
              <a:rPr lang="en-IN">
                <a:solidFill>
                  <a:srgbClr val="C00000"/>
                </a:solidFill>
              </a:rPr>
              <a:t>Algorithm , Model Used &amp; Implementation Screens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598934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18</a:t>
            </a:fld>
            <a:endParaRPr lang="en-US"/>
          </a:p>
        </p:txBody>
      </p:sp>
      <p:pic>
        <p:nvPicPr>
          <p:cNvPr id="1180472439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96374030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0036" y="1955387"/>
            <a:ext cx="10247294" cy="45317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Algorithm / Model Used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Machine Learning Model (e.g.,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Random Forest / LSTM / ANN</a:t>
            </a: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) 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Supervised Learning approach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trained on labeled dataset (NSL-KDD)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Working of Model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Input data is processed and converted into numerical form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learns patterns of normal and attack traffic</a:t>
            </a:r>
            <a:endParaRPr sz="1800"/>
          </a:p>
          <a:p>
            <a:pPr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Based on trained data, model predicts output</a:t>
            </a:r>
            <a:endParaRPr lang="en-US" sz="1800" b="0" i="0" u="none" strike="noStrike" cap="none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Implementation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Backend implemented using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Python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Model trained in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Jupyter Notebook</a:t>
            </a:r>
            <a:endParaRPr sz="1800"/>
          </a:p>
          <a:p>
            <a:pPr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Frontend developed using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Streamlit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652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Dataset Description</a:t>
            </a:r>
            <a:endParaRPr/>
          </a:p>
        </p:txBody>
      </p:sp>
      <p:sp>
        <p:nvSpPr>
          <p:cNvPr id="2035136000" name="Content Placeholder 2"/>
          <p:cNvSpPr>
            <a:spLocks noGrp="1"/>
          </p:cNvSpPr>
          <p:nvPr>
            <p:ph idx="1"/>
          </p:nvPr>
        </p:nvSpPr>
        <p:spPr bwMode="auto">
          <a:xfrm>
            <a:off x="799852" y="1708896"/>
            <a:ext cx="9944345" cy="4600462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95000" lnSpcReduction="11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Dataset Source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NSL-KDD Dataset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Widely used for intrusion detection research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Number of Records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Contains thousands of network traffic records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Includes both training and testing data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Features / Attributes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Total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41 features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Includes: 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Basic features (duration, protocol)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Content features (login attempts, errors)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Traffic features (connection patterns)</a:t>
            </a:r>
            <a:endParaRPr/>
          </a:p>
        </p:txBody>
      </p:sp>
      <p:sp>
        <p:nvSpPr>
          <p:cNvPr id="2924361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19</a:t>
            </a:fld>
            <a:endParaRPr lang="en-US"/>
          </a:p>
        </p:txBody>
      </p:sp>
      <p:pic>
        <p:nvPicPr>
          <p:cNvPr id="72895522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728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Dataset Description</a:t>
            </a:r>
            <a:endParaRPr/>
          </a:p>
        </p:txBody>
      </p:sp>
      <p:sp>
        <p:nvSpPr>
          <p:cNvPr id="609065124" name="Content Placeholder 2"/>
          <p:cNvSpPr>
            <a:spLocks noGrp="1"/>
          </p:cNvSpPr>
          <p:nvPr>
            <p:ph idx="1"/>
          </p:nvPr>
        </p:nvSpPr>
        <p:spPr bwMode="auto">
          <a:xfrm>
            <a:off x="799852" y="1820955"/>
            <a:ext cx="9944345" cy="4488404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75000" lnSpcReduction="15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Types of Data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 Traffic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Attack Types: 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DoS (Denial of Service)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Probe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R2L (Remote to Local)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U2R (User to Root)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Data Preparation Steps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cleaning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Encoding categorical values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Normalization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Train-test split</a:t>
            </a:r>
            <a:endParaRPr/>
          </a:p>
        </p:txBody>
      </p:sp>
      <p:sp>
        <p:nvSpPr>
          <p:cNvPr id="21086443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B654B30-A5A6-3258-E6FD-FEBA872C7834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259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>
                <a:solidFill>
                  <a:srgbClr val="C00000"/>
                </a:solidFill>
              </a:rPr>
              <a:t>System Demonstration / Working Model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7080152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90000" lnSpcReduction="12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Working of the System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User enters network data through interface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is preprocessed automatically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Trained model analyzes the input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System predicts result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Output is displayed as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 or Attack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Demo Steps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Open Streamlit application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Enter input values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Click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Predict</a:t>
            </a: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button 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System displays result instantly</a:t>
            </a:r>
            <a:endParaRPr/>
          </a:p>
        </p:txBody>
      </p:sp>
      <p:sp>
        <p:nvSpPr>
          <p:cNvPr id="3953813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21</a:t>
            </a:fld>
            <a:endParaRPr lang="en-US"/>
          </a:p>
        </p:txBody>
      </p:sp>
      <p:pic>
        <p:nvPicPr>
          <p:cNvPr id="1993566070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369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System Demonstration / Working Model</a:t>
            </a:r>
            <a:endParaRPr/>
          </a:p>
        </p:txBody>
      </p:sp>
      <p:sp>
        <p:nvSpPr>
          <p:cNvPr id="21036892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Output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✔ Normal Traffic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❌ Attack Detected</a:t>
            </a:r>
            <a:endParaRPr/>
          </a:p>
        </p:txBody>
      </p:sp>
      <p:sp>
        <p:nvSpPr>
          <p:cNvPr id="6481622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5E1ECE0-01DF-F183-3D88-8D371495D2E8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937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Experimental Results</a:t>
            </a:r>
            <a:endParaRPr/>
          </a:p>
        </p:txBody>
      </p:sp>
      <p:sp>
        <p:nvSpPr>
          <p:cNvPr id="20490660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Performance Metrics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Accuracy:</a:t>
            </a: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~95% – 97% 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Precision:</a:t>
            </a: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High (low false positives) 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Recall:</a:t>
            </a: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High (detects most attacks) 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F1-Score:</a:t>
            </a: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Balanced performance 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Model Performance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successfully classifies network traffic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Detects both normal and malicious data</a:t>
            </a:r>
            <a:endParaRPr sz="20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Performs better than traditional IDS</a:t>
            </a:r>
            <a:endParaRPr/>
          </a:p>
        </p:txBody>
      </p:sp>
      <p:sp>
        <p:nvSpPr>
          <p:cNvPr id="900308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23</a:t>
            </a:fld>
            <a:endParaRPr lang="en-US"/>
          </a:p>
        </p:txBody>
      </p:sp>
      <p:pic>
        <p:nvPicPr>
          <p:cNvPr id="899806506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44451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932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Experimental Results</a:t>
            </a:r>
            <a:endParaRPr/>
          </a:p>
        </p:txBody>
      </p:sp>
      <p:sp>
        <p:nvSpPr>
          <p:cNvPr id="12717845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Observations</a:t>
            </a:r>
            <a:endParaRPr sz="20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High accuracy achieved after training</a:t>
            </a:r>
            <a:endParaRPr sz="20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Low error rate</a:t>
            </a:r>
            <a:endParaRPr sz="20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Efficient detection of intrusion patterns</a:t>
            </a:r>
            <a:endParaRPr/>
          </a:p>
        </p:txBody>
      </p:sp>
      <p:sp>
        <p:nvSpPr>
          <p:cNvPr id="16166819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2F18EC-B1E3-EC27-9E6C-032A7075FE98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262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Result</a:t>
            </a:r>
            <a:r>
              <a:rPr lang="en-US">
                <a:solidFill>
                  <a:srgbClr val="C00000"/>
                </a:solidFill>
              </a:rPr>
              <a:t>s &amp;</a:t>
            </a:r>
            <a:r>
              <a:rPr>
                <a:solidFill>
                  <a:srgbClr val="C00000"/>
                </a:solidFill>
              </a:rPr>
              <a:t> Discussion</a:t>
            </a:r>
            <a:endParaRPr/>
          </a:p>
        </p:txBody>
      </p:sp>
      <p:sp>
        <p:nvSpPr>
          <p:cNvPr id="1383834406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Key Observations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Model achieved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high accuracy (~95–97%)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Successfully classified normal and attack traffic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Reduced false positives compared to traditional IDS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Efficient in detecting different types of attacks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Improvements over Existing System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Detects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unknown (zero-day) attacks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Higher accuracy than rule-based systems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Automated detection (no manual rules)</a:t>
            </a:r>
            <a:endParaRPr sz="18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Faster and more reliable performance</a:t>
            </a:r>
            <a:endParaRPr/>
          </a:p>
        </p:txBody>
      </p:sp>
      <p:sp>
        <p:nvSpPr>
          <p:cNvPr id="7890887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25</a:t>
            </a:fld>
            <a:endParaRPr lang="en-US"/>
          </a:p>
        </p:txBody>
      </p:sp>
      <p:pic>
        <p:nvPicPr>
          <p:cNvPr id="1194287247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46364"/>
            <a:ext cx="2210765" cy="75501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1236510" name="Table 6"/>
          <p:cNvGraphicFramePr>
            <a:graphicFrameLocks noGrp="1"/>
          </p:cNvGraphicFramePr>
          <p:nvPr/>
        </p:nvGraphicFramePr>
        <p:xfrm>
          <a:off x="1105382" y="3593621"/>
          <a:ext cx="9720261" cy="365760"/>
        </p:xfrm>
        <a:graphic>
          <a:graphicData uri="http://schemas.openxmlformats.org/drawingml/2006/table">
            <a:tbl>
              <a:tblPr/>
              <a:tblGrid>
                <a:gridCol w="324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/>
                    </a:p>
                  </a:txBody>
                  <a:tcPr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4870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Results &amp; Discussion</a:t>
            </a:r>
            <a:endParaRPr/>
          </a:p>
        </p:txBody>
      </p:sp>
      <p:graphicFrame>
        <p:nvGraphicFramePr>
          <p:cNvPr id="2094403047" name="Content Placeholder 2094403046"/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7290051" cy="3120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0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0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020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Method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Accuracy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Limitation</a:t>
                      </a:r>
                      <a:endParaRPr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20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Traditional IDS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Low–Moderate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Cannot detect new attacks</a:t>
                      </a:r>
                      <a:endParaRPr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20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Machine Learning IDS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High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Needs feature engineering</a:t>
                      </a:r>
                      <a:endParaRPr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209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Proposed AI System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Very High</a:t>
                      </a:r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</a:rPr>
                        <a:t>Requires training data</a:t>
                      </a:r>
                      <a:endParaRPr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999723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37D6BFB-0CB2-59BE-EB69-04EDF21A5DD0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9069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>
                <a:solidFill>
                  <a:srgbClr val="C00000"/>
                </a:solidFill>
              </a:rPr>
              <a:t>Innovation &amp; Contribution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04902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27</a:t>
            </a:fld>
            <a:endParaRPr lang="en-US"/>
          </a:p>
        </p:txBody>
      </p:sp>
      <p:pic>
        <p:nvPicPr>
          <p:cNvPr id="1134484493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57615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24128" y="2445378"/>
            <a:ext cx="5638082" cy="37046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dirty="0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What’s new </a:t>
            </a:r>
            <a:endParaRPr dirty="0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Unique features </a:t>
            </a:r>
            <a:endParaRPr dirty="0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Research contribution  by each member in the Team</a:t>
            </a:r>
            <a:endParaRPr dirty="0"/>
          </a:p>
          <a:p>
            <a:pPr>
              <a:defRPr/>
            </a:pPr>
            <a:r>
              <a:rPr lang="en-US" sz="1800" b="1" dirty="0"/>
              <a:t>Individual Contribution Role mentioned here</a:t>
            </a:r>
            <a:endParaRPr lang="en-US" sz="1800" dirty="0"/>
          </a:p>
          <a:p>
            <a:pPr>
              <a:defRPr/>
            </a:pPr>
            <a:r>
              <a:rPr lang="en-US" sz="1800" dirty="0"/>
              <a:t>Member 1 – Machine Learning and Deployment Lead</a:t>
            </a:r>
            <a:endParaRPr dirty="0"/>
          </a:p>
          <a:p>
            <a:pPr>
              <a:defRPr/>
            </a:pPr>
            <a:r>
              <a:rPr lang="en-US" sz="1800" dirty="0"/>
              <a:t>Member 2 – Research and Documentation Lead	</a:t>
            </a:r>
            <a:endParaRPr dirty="0"/>
          </a:p>
          <a:p>
            <a:pPr>
              <a:defRPr/>
            </a:pPr>
            <a:r>
              <a:rPr lang="en-US" sz="1800" dirty="0"/>
              <a:t>Member 3 </a:t>
            </a:r>
            <a:r>
              <a:rPr lang="en-US" sz="2400" dirty="0"/>
              <a:t>– </a:t>
            </a:r>
            <a:r>
              <a:rPr lang="en-US" sz="1800" dirty="0"/>
              <a:t>Front-end and Testing Lead</a:t>
            </a:r>
            <a:endParaRPr sz="1800" dirty="0"/>
          </a:p>
          <a:p>
            <a:pPr>
              <a:defRPr/>
            </a:pPr>
            <a:r>
              <a:rPr lang="en-US" sz="1800" dirty="0"/>
              <a:t> </a:t>
            </a:r>
            <a:endParaRPr dirty="0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endParaRPr lang="en-US" sz="1800" b="0" i="0" u="none" strike="noStrike" cap="none" dirty="0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8544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>
                <a:solidFill>
                  <a:srgbClr val="C00000"/>
                </a:solidFill>
              </a:rPr>
              <a:t>Research Paper Details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0995660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28</a:t>
            </a:fld>
            <a:endParaRPr lang="en-US"/>
          </a:p>
        </p:txBody>
      </p:sp>
      <p:pic>
        <p:nvPicPr>
          <p:cNvPr id="1476898449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8966440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86174" y="1997229"/>
            <a:ext cx="7957826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dirty="0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AI Intrusion Detection System</a:t>
            </a: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Authors – Anmol Sarin , Adarsh Kumar Rai , Aayushi Mohan</a:t>
            </a:r>
            <a:endParaRPr dirty="0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Conference/Journal Name – MIWAI 2026</a:t>
            </a:r>
            <a:endParaRPr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dirty="0">
                <a:latin typeface="Arial"/>
              </a:rPr>
              <a:t>Date of Conference ( if Paper Published in the conference) </a:t>
            </a:r>
            <a:endParaRPr lang="en-US" sz="1800" b="0" i="0" u="none" strike="noStrike" cap="none" dirty="0">
              <a:ln>
                <a:noFill/>
              </a:ln>
              <a:solidFill>
                <a:schemeClr val="tx1"/>
              </a:solidFill>
              <a:latin typeface="Arial"/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Indexing (Scopus/</a:t>
            </a:r>
            <a:r>
              <a:rPr lang="en-US" sz="1800" b="0" i="0" u="none" strike="noStrike" cap="none" dirty="0" err="1">
                <a:ln>
                  <a:noFill/>
                </a:ln>
                <a:solidFill>
                  <a:schemeClr val="tx1"/>
                </a:solidFill>
                <a:latin typeface="Arial"/>
              </a:rPr>
              <a:t>WoS</a:t>
            </a:r>
            <a:r>
              <a:rPr lang="en-US" sz="1800" b="0" i="0" u="none" strike="noStrike" cap="none" dirty="0">
                <a:ln>
                  <a:noFill/>
                </a:ln>
                <a:solidFill>
                  <a:schemeClr val="tx1"/>
                </a:solidFill>
                <a:latin typeface="Arial"/>
              </a:rPr>
              <a:t>) – Under Review / Yet To Be Indexed</a:t>
            </a:r>
            <a:endParaRPr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defRPr/>
            </a:pPr>
            <a:r>
              <a:rPr lang="en-US" sz="1800" dirty="0"/>
              <a:t>Attach the first page of the submitted paper</a:t>
            </a:r>
            <a:endParaRPr lang="en-US" sz="1800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BA3C05E-6740-18B9-8430-580782CD170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566020" name="Slide Number Placeholder 5">
            <a:extLst>
              <a:ext uri="{FF2B5EF4-FFF2-40B4-BE49-F238E27FC236}">
                <a16:creationId xmlns:a16="http://schemas.microsoft.com/office/drawing/2014/main" id="{2E9F4E86-93BD-4FD6-30AA-75F6F928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29</a:t>
            </a:fld>
            <a:endParaRPr lang="en-US"/>
          </a:p>
        </p:txBody>
      </p:sp>
      <p:pic>
        <p:nvPicPr>
          <p:cNvPr id="1476898449" name="Google Shape;90;p1">
            <a:extLst>
              <a:ext uri="{FF2B5EF4-FFF2-40B4-BE49-F238E27FC236}">
                <a16:creationId xmlns:a16="http://schemas.microsoft.com/office/drawing/2014/main" id="{8A99933A-6A8D-1C9E-6415-FA154BC1716B}"/>
              </a:ext>
            </a:extLst>
          </p:cNvPr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2F22E0-424C-FCAD-8C08-48B19AD4C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62" y="124989"/>
            <a:ext cx="5212028" cy="667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4759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4885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Publication Status</a:t>
            </a:r>
            <a:endParaRPr/>
          </a:p>
        </p:txBody>
      </p:sp>
      <p:sp>
        <p:nvSpPr>
          <p:cNvPr id="1916331473" name="Content Placeholder 2"/>
          <p:cNvSpPr>
            <a:spLocks noGrp="1"/>
          </p:cNvSpPr>
          <p:nvPr>
            <p:ph idx="1"/>
          </p:nvPr>
        </p:nvSpPr>
        <p:spPr bwMode="auto">
          <a:xfrm>
            <a:off x="0" y="2001258"/>
            <a:ext cx="12329652" cy="485674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dirty="0"/>
              <a:t>• </a:t>
            </a:r>
            <a:r>
              <a:rPr lang="en-US" dirty="0"/>
              <a:t>Submitted/Accepted/Published </a:t>
            </a:r>
            <a:endParaRPr dirty="0"/>
          </a:p>
          <a:p>
            <a:pPr marL="0" indent="0">
              <a:buNone/>
              <a:defRPr/>
            </a:pPr>
            <a:r>
              <a:rPr lang="en-US" dirty="0"/>
              <a:t>Any Conference Certificate proof</a:t>
            </a:r>
            <a:endParaRPr dirty="0"/>
          </a:p>
          <a:p>
            <a:pPr marL="0" indent="0">
              <a:buNone/>
              <a:defRPr/>
            </a:pPr>
            <a:r>
              <a:rPr lang="en-US" dirty="0"/>
              <a:t>Attach the necessary proofs. </a:t>
            </a:r>
            <a:endParaRPr lang="en-US" sz="1400" dirty="0"/>
          </a:p>
          <a:p>
            <a:pPr marL="0" indent="0">
              <a:buNone/>
              <a:defRPr/>
            </a:pPr>
            <a:r>
              <a:rPr lang="en-US" sz="2400" b="1" dirty="0"/>
              <a:t>Acceptance Proof (If Available)</a:t>
            </a:r>
            <a:endParaRPr lang="en-US" sz="1400" b="1" dirty="0"/>
          </a:p>
          <a:p>
            <a:pPr marL="0" indent="0">
              <a:buNone/>
              <a:defRPr/>
            </a:pPr>
            <a:r>
              <a:rPr lang="en-US" sz="2400" dirty="0"/>
              <a:t>Acceptance email screenshot </a:t>
            </a:r>
            <a:endParaRPr lang="en-US" sz="1400" dirty="0"/>
          </a:p>
          <a:p>
            <a:pPr marL="0" indent="0">
              <a:buNone/>
              <a:defRPr/>
            </a:pPr>
            <a:r>
              <a:rPr lang="en-US" sz="2400" b="1" dirty="0"/>
              <a:t>Registration Proof</a:t>
            </a:r>
          </a:p>
          <a:p>
            <a:pPr marL="0" indent="0">
              <a:buNone/>
              <a:defRPr/>
            </a:pPr>
            <a:endParaRPr lang="en-US" sz="2400" b="1" dirty="0"/>
          </a:p>
          <a:p>
            <a:pPr marL="0" indent="0">
              <a:buNone/>
              <a:defRPr/>
            </a:pPr>
            <a:endParaRPr lang="en-US" sz="1400" b="1" dirty="0"/>
          </a:p>
          <a:p>
            <a:pPr marL="0" indent="0">
              <a:buNone/>
              <a:defRPr/>
            </a:pPr>
            <a:endParaRPr lang="en-US" sz="1400" b="1" dirty="0"/>
          </a:p>
          <a:p>
            <a:pPr marL="0" indent="0">
              <a:buNone/>
              <a:defRPr/>
            </a:pPr>
            <a:r>
              <a:rPr lang="en-US" sz="2400" dirty="0"/>
              <a:t>Conference registration receipt /Payment proof</a:t>
            </a:r>
            <a:endParaRPr dirty="0"/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endParaRPr dirty="0"/>
          </a:p>
        </p:txBody>
      </p:sp>
      <p:sp>
        <p:nvSpPr>
          <p:cNvPr id="8589719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30</a:t>
            </a:fld>
            <a:endParaRPr lang="en-US"/>
          </a:p>
        </p:txBody>
      </p:sp>
      <p:pic>
        <p:nvPicPr>
          <p:cNvPr id="1892432998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63641" y="0"/>
            <a:ext cx="2210765" cy="75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31D8B8-C21C-7E17-62A3-AF82721D6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23" y="1889364"/>
            <a:ext cx="8101787" cy="4270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1053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rgbClr val="C00000"/>
                </a:solidFill>
              </a:rPr>
              <a:t>Limitations of Current System &amp; </a:t>
            </a:r>
            <a:r>
              <a:rPr>
                <a:solidFill>
                  <a:srgbClr val="C00000"/>
                </a:solidFill>
              </a:rPr>
              <a:t>Challenges Faced</a:t>
            </a:r>
            <a:endParaRPr/>
          </a:p>
        </p:txBody>
      </p:sp>
      <p:sp>
        <p:nvSpPr>
          <p:cNvPr id="114399498" name="Content Placeholder 2"/>
          <p:cNvSpPr>
            <a:spLocks noGrp="1"/>
          </p:cNvSpPr>
          <p:nvPr>
            <p:ph idx="1"/>
          </p:nvPr>
        </p:nvSpPr>
        <p:spPr bwMode="auto">
          <a:xfrm>
            <a:off x="1024128" y="2286000"/>
            <a:ext cx="9720070" cy="4409514"/>
          </a:xfrm>
        </p:spPr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82500" lnSpcReduction="20000"/>
          </a:bodyPr>
          <a:lstStyle/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Limitations of Current System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Depends heavily on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dataset quality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Limited to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offline dataset (NSL-KDD)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May not handle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real-time large-scale traffic</a:t>
            </a: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efficiently 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Performance may vary for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new unseen attack types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Requires retraining for updated data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Challenges Faced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preprocessing (encoding, normalization)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Handling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categorical features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Feature selection from 40+ attributes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Tw Cen MT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Model tuning (accuracy vs overfitting)</a:t>
            </a:r>
            <a:endParaRPr sz="2200"/>
          </a:p>
          <a:p>
            <a:pPr marL="0" indent="0">
              <a:buClr>
                <a:schemeClr val="accent2"/>
              </a:buClr>
              <a:buSzPct val="100000"/>
              <a:buFont typeface="Wingdings"/>
              <a:buNone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Deployment issues using Streamlit</a:t>
            </a:r>
            <a:endParaRPr/>
          </a:p>
        </p:txBody>
      </p:sp>
      <p:sp>
        <p:nvSpPr>
          <p:cNvPr id="4460993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31</a:t>
            </a:fld>
            <a:endParaRPr lang="en-US"/>
          </a:p>
        </p:txBody>
      </p:sp>
      <p:pic>
        <p:nvPicPr>
          <p:cNvPr id="2011535564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56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>
                <a:solidFill>
                  <a:srgbClr val="C00000"/>
                </a:solidFill>
              </a:rPr>
              <a:t>Applications</a:t>
            </a:r>
            <a:endParaRPr/>
          </a:p>
        </p:txBody>
      </p:sp>
      <p:sp>
        <p:nvSpPr>
          <p:cNvPr id="21393011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Real-World Applications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Network Security Systems</a:t>
            </a:r>
            <a:b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Used to monitor and protect network traffic from cyber attacks 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Banking &amp; Financial Systems</a:t>
            </a:r>
            <a:b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Detects fraud and prevents unauthorized transactions 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Cloud Computing Security</a:t>
            </a:r>
            <a:b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Secures data stored and transferred in cloud platforms 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Enterprise Networks</a:t>
            </a:r>
            <a:b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Protects organizational data from internal and external threats </a:t>
            </a:r>
            <a:endParaRPr sz="1800"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Government &amp; Defense Systems</a:t>
            </a:r>
            <a:b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</a:b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Ensures security of sensitive and confidential information</a:t>
            </a:r>
            <a:endParaRPr/>
          </a:p>
        </p:txBody>
      </p:sp>
      <p:sp>
        <p:nvSpPr>
          <p:cNvPr id="9757228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32</a:t>
            </a:fld>
            <a:endParaRPr lang="en-US"/>
          </a:p>
        </p:txBody>
      </p:sp>
      <p:pic>
        <p:nvPicPr>
          <p:cNvPr id="370143213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9958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Applications</a:t>
            </a:r>
            <a:endParaRPr/>
          </a:p>
        </p:txBody>
      </p:sp>
      <p:sp>
        <p:nvSpPr>
          <p:cNvPr id="179952981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95000" lnSpcReduction="11000"/>
          </a:bodyPr>
          <a:lstStyle/>
          <a:p>
            <a:pPr>
              <a:defRPr/>
            </a:pPr>
            <a:endParaRPr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System Deployment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Web-based application using </a:t>
            </a: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Streamlit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Can be extended to </a:t>
            </a: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API-based systems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Future scope for </a:t>
            </a: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mobile app integration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Industry Use Cases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Cybersecurity companies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IT infrastructure monitoring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Data protection systems</a:t>
            </a:r>
            <a:endParaRPr sz="20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Real-time threat detection platforms</a:t>
            </a:r>
            <a:endParaRPr/>
          </a:p>
        </p:txBody>
      </p:sp>
      <p:sp>
        <p:nvSpPr>
          <p:cNvPr id="3538196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EC0764-905F-AC74-2E08-5D3145CE0CD6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3767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rgbClr val="C00000"/>
                </a:solidFill>
              </a:rPr>
              <a:t>Conclusion &amp; Future Work</a:t>
            </a:r>
            <a:endParaRPr lang="en-IN">
              <a:solidFill>
                <a:srgbClr val="C00000"/>
              </a:solidFill>
            </a:endParaRPr>
          </a:p>
        </p:txBody>
      </p:sp>
      <p:sp>
        <p:nvSpPr>
          <p:cNvPr id="62371943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45720" tIns="45720" rIns="45720" bIns="45720" numCol="1" spcCol="0" rtlCol="0" fromWordArt="0" anchor="t" anchorCtr="0" forceAA="0" compatLnSpc="0">
            <a:normAutofit fontScale="70000" lnSpcReduction="20000"/>
          </a:bodyPr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WORK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Conclusion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Developed an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AI-based Intrusion Detection System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Successfully classified network traffic as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Normal or Attack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Achieved </a:t>
            </a: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high accuracy (~95–97%)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Reduced false positives compared to traditional IDS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Demonstrated effectiveness of AI in cybersecurity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Key Achievements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Built and trained ML/DL model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Implemented real-time prediction using Streamlit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Improved detection performance</a:t>
            </a:r>
            <a:endParaRPr sz="22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Created user-friendly system</a:t>
            </a:r>
            <a:endParaRPr/>
          </a:p>
        </p:txBody>
      </p:sp>
      <p:sp>
        <p:nvSpPr>
          <p:cNvPr id="1520460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34</a:t>
            </a:fld>
            <a:endParaRPr lang="en-US"/>
          </a:p>
        </p:txBody>
      </p:sp>
      <p:pic>
        <p:nvPicPr>
          <p:cNvPr id="89080818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4028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5000" b="0" i="0" u="none" strike="noStrike" cap="all" spc="99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Conclusion &amp; Future Work</a:t>
            </a:r>
            <a:endParaRPr/>
          </a:p>
        </p:txBody>
      </p:sp>
      <p:sp>
        <p:nvSpPr>
          <p:cNvPr id="8597987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🔹 Future Work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Real-time deployment on live network traffic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 Integration with </a:t>
            </a:r>
            <a:r>
              <a:rPr sz="1800" b="1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cloud platforms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Use of advanced deep learning models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Improve scalability for large datasets</a:t>
            </a:r>
            <a:endParaRPr sz="1800"/>
          </a:p>
          <a:p>
            <a:pPr>
              <a:buClr>
                <a:schemeClr val="accent2"/>
              </a:buClr>
              <a:buSzPct val="100000"/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"/>
                <a:ea typeface="Times"/>
                <a:cs typeface="Times"/>
              </a:rPr>
              <a:t>Mobile app / API-based deployment</a:t>
            </a:r>
            <a:endParaRPr/>
          </a:p>
        </p:txBody>
      </p:sp>
      <p:sp>
        <p:nvSpPr>
          <p:cNvPr id="2854859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208D47F-E6F9-3CFA-3E56-73EECF03ECE0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7413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rgbClr val="C00000"/>
                </a:solidFill>
              </a:rPr>
              <a:t>References</a:t>
            </a:r>
            <a:endParaRPr/>
          </a:p>
        </p:txBody>
      </p:sp>
      <p:sp>
        <p:nvSpPr>
          <p:cNvPr id="70442888" name="Content Placeholder 2"/>
          <p:cNvSpPr>
            <a:spLocks noGrp="1"/>
          </p:cNvSpPr>
          <p:nvPr>
            <p:ph idx="1"/>
          </p:nvPr>
        </p:nvSpPr>
        <p:spPr bwMode="auto">
          <a:xfrm>
            <a:off x="869888" y="1750919"/>
            <a:ext cx="9874308" cy="4558440"/>
          </a:xfrm>
        </p:spPr>
        <p:txBody>
          <a:bodyPr/>
          <a:lstStyle/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sp>
        <p:nvSpPr>
          <p:cNvPr id="10708498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36</a:t>
            </a:fld>
            <a:endParaRPr lang="en-US"/>
          </a:p>
        </p:txBody>
      </p:sp>
      <p:pic>
        <p:nvPicPr>
          <p:cNvPr id="930153514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6540"/>
            <a:ext cx="2210765" cy="755015"/>
          </a:xfrm>
          <a:prstGeom prst="rect">
            <a:avLst/>
          </a:prstGeom>
          <a:noFill/>
          <a:ln>
            <a:noFill/>
          </a:ln>
        </p:spPr>
      </p:pic>
      <p:sp>
        <p:nvSpPr>
          <p:cNvPr id="932018883" name=" 932018882"/>
          <p:cNvSpPr/>
          <p:nvPr/>
        </p:nvSpPr>
        <p:spPr bwMode="auto">
          <a:xfrm>
            <a:off x="1150036" y="1975036"/>
            <a:ext cx="10114748" cy="345086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1] M. Tavallaee et al., “A detailed analysis of the KDD CUP 99 dataset,” </a:t>
            </a:r>
            <a:r>
              <a:rPr sz="2200" b="0" i="1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IEEE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, 2009.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[2] D. E. Denning, “An intrusion-detection model,” </a:t>
            </a:r>
            <a:r>
              <a:rPr sz="2200" b="0" i="1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IEEE Transactions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, 1987.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[3] W. Lee et al., “Data mining approaches for intrusion detection,” </a:t>
            </a:r>
            <a:r>
              <a:rPr sz="2200" b="0" i="1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IEEE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, 1999.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[4] N. Moustafa and J. Slay, “UNSW-NB15 dataset,” 2015.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[5] I. Goodfellow et al., </a:t>
            </a:r>
            <a:r>
              <a:rPr sz="2200" b="0" i="1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Deep Learning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, MIT Press, 2016.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[6] F. Chollet, </a:t>
            </a:r>
            <a:r>
              <a:rPr sz="2200" b="0" i="1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Deep Learning with Python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, 2017.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[7] Yin et al., “Deep learning for intrusion detection,” </a:t>
            </a:r>
            <a:r>
              <a:rPr sz="2200" b="0" i="1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IEEE Access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, 2017.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[8] Kim et al., “LSTM-based intrusion detection system,” 2016.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[9] Scikit-learn Developers, “Machine Learning in Python,” 2020.</a:t>
            </a:r>
            <a:endParaRPr sz="2200" dirty="0"/>
          </a:p>
          <a:p>
            <a:pPr>
              <a:defRPr/>
            </a:pP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[10] </a:t>
            </a:r>
            <a:r>
              <a:rPr sz="2200" b="0" i="0" u="none" dirty="0" err="1">
                <a:solidFill>
                  <a:srgbClr val="000000"/>
                </a:solidFill>
                <a:latin typeface="Times"/>
                <a:ea typeface="Times"/>
                <a:cs typeface="Times"/>
              </a:rPr>
              <a:t>Streamlit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 Inc., “</a:t>
            </a:r>
            <a:r>
              <a:rPr sz="2200" b="0" i="0" u="none" dirty="0" err="1">
                <a:solidFill>
                  <a:srgbClr val="000000"/>
                </a:solidFill>
                <a:latin typeface="Times"/>
                <a:ea typeface="Times"/>
                <a:cs typeface="Times"/>
              </a:rPr>
              <a:t>Streamlit</a:t>
            </a:r>
            <a:r>
              <a:rPr sz="2200" b="0" i="0" u="none" dirty="0">
                <a:solidFill>
                  <a:srgbClr val="000000"/>
                </a:solidFill>
                <a:latin typeface="Times"/>
                <a:ea typeface="Times"/>
                <a:cs typeface="Times"/>
              </a:rPr>
              <a:t> Documentation,” 2023.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794637" name="Title 1"/>
          <p:cNvSpPr>
            <a:spLocks noGrp="1"/>
          </p:cNvSpPr>
          <p:nvPr>
            <p:ph type="title"/>
          </p:nvPr>
        </p:nvSpPr>
        <p:spPr bwMode="auto">
          <a:xfrm>
            <a:off x="3738624" y="2559564"/>
            <a:ext cx="5901459" cy="105329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sz="9600" b="1">
                <a:solidFill>
                  <a:srgbClr val="C00000"/>
                </a:solidFill>
              </a:rPr>
              <a:t>Thank You</a:t>
            </a:r>
            <a:endParaRPr/>
          </a:p>
        </p:txBody>
      </p:sp>
      <p:sp>
        <p:nvSpPr>
          <p:cNvPr id="14777424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fld id="{C1FF6DA9-008F-8B48-92A6-B652298478BF}" type="slidenum">
              <a:rPr lang="en-US"/>
              <a:t>37</a:t>
            </a:fld>
            <a:endParaRPr lang="en-US"/>
          </a:p>
        </p:txBody>
      </p:sp>
      <p:pic>
        <p:nvPicPr>
          <p:cNvPr id="1848396256" name="Google Shape;90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981235" y="0"/>
            <a:ext cx="2210765" cy="7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/>
        <a:ea typeface="Arial"/>
        <a:cs typeface="Arial"/>
      </a:majorFont>
      <a:minorFont>
        <a:latin typeface="Tw Cen MT"/>
        <a:ea typeface="Arial"/>
        <a:cs typeface="Arial"/>
      </a:minorFont>
    </a:fontScheme>
    <a:fmtScheme name="Integral">
      <a:fillStyleLst>
        <a:solidFill>
          <a:schemeClr val="phClr"/>
        </a:solidFill>
        <a:gradFill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/>
        </a:gradFill>
        <a:gradFill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</TotalTime>
  <Words>2007</Words>
  <Application>Microsoft Office PowerPoint</Application>
  <PresentationFormat>Widescreen</PresentationFormat>
  <Paragraphs>465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Times</vt:lpstr>
      <vt:lpstr>Times New Roman</vt:lpstr>
      <vt:lpstr>Tw Cen MT</vt:lpstr>
      <vt:lpstr>Tw Cen MT Condensed</vt:lpstr>
      <vt:lpstr>Wingdings</vt:lpstr>
      <vt:lpstr>Wingdings 3</vt:lpstr>
      <vt:lpstr>Integral</vt:lpstr>
      <vt:lpstr>AI DRIVEN INTRUSION DETECTION SYSTEMS USING DEEP LEARNING</vt:lpstr>
      <vt:lpstr>Project Overview</vt:lpstr>
      <vt:lpstr>Problem Statement</vt:lpstr>
      <vt:lpstr>Project Objectives</vt:lpstr>
      <vt:lpstr>Literature Review</vt:lpstr>
      <vt:lpstr>LITERATURE REVIEW</vt:lpstr>
      <vt:lpstr>Existing System</vt:lpstr>
      <vt:lpstr>Existing System</vt:lpstr>
      <vt:lpstr>Proposed System</vt:lpstr>
      <vt:lpstr>Proposed System</vt:lpstr>
      <vt:lpstr>System Architecture</vt:lpstr>
      <vt:lpstr>System Architecture</vt:lpstr>
      <vt:lpstr>Methodology</vt:lpstr>
      <vt:lpstr>Tools &amp; Technologies</vt:lpstr>
      <vt:lpstr>Tools &amp; Technologies</vt:lpstr>
      <vt:lpstr>Modules Implemented</vt:lpstr>
      <vt:lpstr>Modules Implemented</vt:lpstr>
      <vt:lpstr>Algorithm , Model Used &amp; Implementation Screens</vt:lpstr>
      <vt:lpstr>Dataset Description</vt:lpstr>
      <vt:lpstr>Dataset Description</vt:lpstr>
      <vt:lpstr>System Demonstration / Working Model</vt:lpstr>
      <vt:lpstr>System Demonstration / Working Model</vt:lpstr>
      <vt:lpstr>Experimental Results</vt:lpstr>
      <vt:lpstr>Experimental Results</vt:lpstr>
      <vt:lpstr>Results &amp; Discussion</vt:lpstr>
      <vt:lpstr>Results &amp; Discussion</vt:lpstr>
      <vt:lpstr>Innovation &amp; Contribution</vt:lpstr>
      <vt:lpstr>Research Paper Details</vt:lpstr>
      <vt:lpstr>PowerPoint Presentation</vt:lpstr>
      <vt:lpstr>Publication Status</vt:lpstr>
      <vt:lpstr>Limitations of Current System &amp; Challenges Faced</vt:lpstr>
      <vt:lpstr>Applications</vt:lpstr>
      <vt:lpstr>Applications</vt:lpstr>
      <vt:lpstr>Conclusion &amp; Future Work</vt:lpstr>
      <vt:lpstr>Conclusion &amp; Future Work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Anmol Sarin</dc:creator>
  <cp:keywords/>
  <dc:description>generated using python-pptx</dc:description>
  <cp:lastModifiedBy>Anmol Sarin</cp:lastModifiedBy>
  <cp:revision>20</cp:revision>
  <dcterms:created xsi:type="dcterms:W3CDTF">2013-01-27T09:14:16Z</dcterms:created>
  <dcterms:modified xsi:type="dcterms:W3CDTF">2026-05-06T18:25:39Z</dcterms:modified>
  <cp:category/>
</cp:coreProperties>
</file>